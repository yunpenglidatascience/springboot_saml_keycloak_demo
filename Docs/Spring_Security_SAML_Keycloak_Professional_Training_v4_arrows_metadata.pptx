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Spring Security SAML 2.0 with Keycloak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011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5E4"/>
                </a:solidFill>
              </a:defRPr>
            </a:pPr>
            <a:r>
              <a:t>Architecture, implementation, configuration, URLs, and authentication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80360"/>
            <a:ext cx="283464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262D38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749808" y="2788920"/>
            <a:ext cx="2011680" cy="45720"/>
          </a:xfrm>
          <a:prstGeom prst="rect">
            <a:avLst/>
          </a:prstGeom>
          <a:solidFill>
            <a:srgbClr val="CC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8D7"/>
                </a:solidFill>
              </a:defRPr>
            </a:pPr>
            <a:r>
              <a:t>Professional technical walkthrough • Spring Boot 3.x / Spring Security 6.x • Keycloak IdP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989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Demo topology: Spring Boot :8080  |  Keycloak :8081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5303520" cy="4846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2D38"/>
                </a:solidFill>
              </a:defRPr>
            </a:pPr>
            <a:r>
              <a:t>• SAML 2.0 concepts and terminology</a:t>
            </a:r>
          </a:p>
          <a:p>
            <a:pPr>
              <a:spcAft>
                <a:spcPts val="900"/>
              </a:spcAft>
              <a:defRPr sz="1800">
                <a:solidFill>
                  <a:srgbClr val="262D38"/>
                </a:solidFill>
              </a:defRPr>
            </a:pPr>
            <a:r>
              <a:t>• Spring Security ↔ Keycloak architecture</a:t>
            </a:r>
          </a:p>
          <a:p>
            <a:pPr>
              <a:spcAft>
                <a:spcPts val="900"/>
              </a:spcAft>
              <a:defRPr sz="1800">
                <a:solidFill>
                  <a:srgbClr val="262D38"/>
                </a:solidFill>
              </a:defRPr>
            </a:pPr>
            <a:r>
              <a:t>• Project dependencies and structure</a:t>
            </a:r>
          </a:p>
          <a:p>
            <a:pPr>
              <a:spcAft>
                <a:spcPts val="900"/>
              </a:spcAft>
              <a:defRPr sz="1800">
                <a:solidFill>
                  <a:srgbClr val="262D38"/>
                </a:solidFill>
              </a:defRPr>
            </a:pPr>
            <a:r>
              <a:t>• Spring Boot relying-party configuration</a:t>
            </a:r>
          </a:p>
          <a:p>
            <a:pPr>
              <a:spcAft>
                <a:spcPts val="900"/>
              </a:spcAft>
              <a:defRPr sz="1800">
                <a:solidFill>
                  <a:srgbClr val="262D38"/>
                </a:solidFill>
              </a:defRPr>
            </a:pPr>
            <a:r>
              <a:t>• Keycloak SAML client configuration</a:t>
            </a:r>
          </a:p>
          <a:p>
            <a:pPr>
              <a:spcAft>
                <a:spcPts val="900"/>
              </a:spcAft>
              <a:defRPr sz="1800">
                <a:solidFill>
                  <a:srgbClr val="262D38"/>
                </a:solidFill>
              </a:defRPr>
            </a:pPr>
            <a:r>
              <a:t>• Important runtime and metadata URLs</a:t>
            </a:r>
          </a:p>
          <a:p>
            <a:pPr>
              <a:spcAft>
                <a:spcPts val="900"/>
              </a:spcAft>
              <a:defRPr sz="1800">
                <a:solidFill>
                  <a:srgbClr val="262D38"/>
                </a:solidFill>
              </a:defRPr>
            </a:pPr>
            <a:r>
              <a:t>• End-to-end authentication sequence</a:t>
            </a:r>
          </a:p>
          <a:p>
            <a:pPr>
              <a:spcAft>
                <a:spcPts val="900"/>
              </a:spcAft>
              <a:defRPr sz="1800">
                <a:solidFill>
                  <a:srgbClr val="262D38"/>
                </a:solidFill>
              </a:defRPr>
            </a:pPr>
            <a:r>
              <a:t>• Signing, certificates, and troubleshooting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37160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371600"/>
            <a:ext cx="73152" cy="123444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1536192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Learning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1965960"/>
            <a:ext cx="4224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Understand not only how to configure SAML, but why each endpoint, metadata document, and trust relationship exists.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88036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2880360"/>
            <a:ext cx="73152" cy="123444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3044952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Demo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3474720"/>
            <a:ext cx="4224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Spring Boot = Service Provider / Relying Party</a:t>
            </a:r>
            <a:br/>
            <a:r>
              <a:t>Keycloak = Identity Provider / Asserting Party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38912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4389120"/>
            <a:ext cx="73152" cy="1234440"/>
          </a:xfrm>
          <a:prstGeom prst="rect">
            <a:avLst/>
          </a:prstGeom>
          <a:solidFill>
            <a:srgbClr val="CC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4553712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9E3F"/>
                </a:solidFill>
              </a:defRPr>
            </a:pPr>
            <a: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4983480"/>
            <a:ext cx="4224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A local SAML login flow with clear separation between application security and identity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SAML 2.0 — What It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D38"/>
                </a:solidFill>
              </a:defRPr>
            </a:pPr>
            <a:r>
              <a:t>SAML is a browser-based federation protocol that lets an application trust authentication performed by an external Identity Provider.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73152" cy="205740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1 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23160"/>
            <a:ext cx="303580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The IdP authenticates the user. The application does not need to store or validate the user's password.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73152" cy="205740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2  Assertion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23160"/>
            <a:ext cx="303580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The IdP sends a signed SAML assertion describing the authenticated subject and optional attributes.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73152" cy="2057400"/>
          </a:xfrm>
          <a:prstGeom prst="rect">
            <a:avLst/>
          </a:prstGeom>
          <a:solidFill>
            <a:srgbClr val="CC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9E3F"/>
                </a:solidFill>
              </a:defRPr>
            </a:pPr>
            <a:r>
              <a:t>3  Federation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23160"/>
            <a:ext cx="303580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The Service Provider establishes a trust relationship with the IdP using metadata and X.509 certificates.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33A"/>
                </a:solidFill>
              </a:defRPr>
            </a:pPr>
            <a:r>
              <a:t>Typical enterprise use: Single Sign-On across multiple applications with centralized authentication.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D38"/>
                </a:solidFill>
              </a:defRPr>
            </a:pPr>
            <a:r>
              <a:t>SAML messages are XML. The browser carries the messages between the SP and IdP; the SP and IdP establish trust through metadata, entity IDs, endpoints, and certificates.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Terminology in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73152" cy="182880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39903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Spring Boot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8646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Relying Party (RP)</a:t>
            </a:r>
            <a:br/>
            <a:r>
              <a:t>Service Provider (SP)</a:t>
            </a:r>
            <a:br/>
            <a:r>
              <a:t>Relies on Keycloak to authenticate the user.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73152" cy="182880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39903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Keycloak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28800"/>
            <a:ext cx="48646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Asserting Party</a:t>
            </a:r>
            <a:br/>
            <a:r>
              <a:t>Identity Provider (IdP)</a:t>
            </a:r>
            <a:br/>
            <a:r>
              <a:t>Authenticates the user and issues the SAML assertion.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233A"/>
                </a:solidFill>
              </a:defRPr>
            </a:pPr>
            <a:r>
              <a:t>The naming is different, but the roles map directly: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5FA0"/>
                </a:solidFill>
              </a:defRPr>
            </a:pPr>
            <a:r>
              <a:t>Relying Party</a:t>
            </a:r>
            <a:br/>
            <a:r>
              <a:t>= Service Provider</a:t>
            </a:r>
            <a:br/>
            <a:r>
              <a:t>= Spring Boot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43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8791"/>
                </a:solidFill>
              </a:defRPr>
            </a:pPr>
            <a:r>
              <a:t>Asserting Party</a:t>
            </a:r>
            <a:br/>
            <a:r>
              <a:t>= Identity Provider</a:t>
            </a:r>
            <a:br/>
            <a:r>
              <a:t>= Keycloak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0" y="4709160"/>
            <a:ext cx="914400" cy="0"/>
          </a:xfrm>
          <a:prstGeom prst="line">
            <a:avLst/>
          </a:prstGeom>
          <a:ln w="31750">
            <a:solidFill>
              <a:srgbClr val="CC9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Demo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926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920240"/>
          </a:xfrm>
          <a:prstGeom prst="rect">
            <a:avLst/>
          </a:prstGeom>
          <a:solidFill>
            <a:srgbClr val="CC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81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9E3F"/>
                </a:solidFill>
              </a:defRPr>
            </a:pPr>
            <a: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Starts login and transports SAML messages between the two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417320"/>
            <a:ext cx="2926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417320"/>
            <a:ext cx="73152" cy="192024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1581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Spring Boot :8080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011680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Spring Security SAML 2.0 Service Provider.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417320"/>
            <a:ext cx="2926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417320"/>
            <a:ext cx="73152" cy="192024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8" y="1581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Keycloak :8081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2011680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SAML Identity Provider and user authentication system.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0" y="2377440"/>
            <a:ext cx="914400" cy="0"/>
          </a:xfrm>
          <a:prstGeom prst="line">
            <a:avLst/>
          </a:prstGeom>
          <a:ln w="27940">
            <a:solidFill>
              <a:srgbClr val="CC9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43800" y="2377440"/>
            <a:ext cx="914400" cy="0"/>
          </a:xfrm>
          <a:prstGeom prst="line">
            <a:avLst/>
          </a:prstGeom>
          <a:ln w="2794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3977639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233A"/>
                </a:solidFill>
              </a:defRPr>
            </a:pPr>
            <a:r>
              <a:t>Trust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D38"/>
                </a:solidFill>
              </a:defRPr>
            </a:pPr>
            <a:r>
              <a:t>Spring reads Keycloak IdP metadata to learn its SSO endpoint and signing certificate. Keycloak is configured with Spring's entity ID, ACS URL, and—when request signing is enabled—Spring's public certificate.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171907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CC9E3F"/>
                </a:solidFill>
              </a:defRPr>
            </a:pPr>
            <a:r>
              <a:t>HTTP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171907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C5FA0"/>
                </a:solidFill>
              </a:defRPr>
            </a:pPr>
            <a:r>
              <a:t>AuthnRequest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57600" y="2148840"/>
            <a:ext cx="914400" cy="0"/>
          </a:xfrm>
          <a:prstGeom prst="line">
            <a:avLst/>
          </a:prstGeom>
          <a:ln w="35560">
            <a:solidFill>
              <a:srgbClr val="CC9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43800" y="2148840"/>
            <a:ext cx="914400" cy="0"/>
          </a:xfrm>
          <a:prstGeom prst="line">
            <a:avLst/>
          </a:prstGeom>
          <a:ln w="3556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0" y="257860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28791"/>
                </a:solidFill>
              </a:defRPr>
            </a:pPr>
            <a:r>
              <a:t>SAMLResponse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543800" y="2880360"/>
            <a:ext cx="914400" cy="0"/>
          </a:xfrm>
          <a:prstGeom prst="line">
            <a:avLst/>
          </a:prstGeom>
          <a:ln w="35560">
            <a:solidFill>
              <a:srgbClr val="22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429000" y="257860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CC9E3F"/>
                </a:solidFill>
              </a:defRPr>
            </a:pPr>
            <a:r>
              <a:t>App response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657600" y="2880360"/>
            <a:ext cx="914400" cy="0"/>
          </a:xfrm>
          <a:prstGeom prst="line">
            <a:avLst/>
          </a:prstGeom>
          <a:ln w="35560">
            <a:solidFill>
              <a:srgbClr val="CC9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ight Arrow 31"/>
          <p:cNvSpPr/>
          <p:nvPr/>
        </p:nvSpPr>
        <p:spPr>
          <a:xfrm>
            <a:off x="3703320" y="2057400"/>
            <a:ext cx="822960" cy="384048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7589520" y="2057400"/>
            <a:ext cx="822960" cy="384048"/>
          </a:xfrm>
          <a:prstGeom prst="rightArrow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eft Arrow 33"/>
          <p:cNvSpPr/>
          <p:nvPr/>
        </p:nvSpPr>
        <p:spPr>
          <a:xfrm>
            <a:off x="7589520" y="2788920"/>
            <a:ext cx="822960" cy="384048"/>
          </a:xfrm>
          <a:prstGeom prst="leftArrow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eft Arrow 34"/>
          <p:cNvSpPr/>
          <p:nvPr/>
        </p:nvSpPr>
        <p:spPr>
          <a:xfrm>
            <a:off x="3703320" y="2788920"/>
            <a:ext cx="822960" cy="384048"/>
          </a:xfrm>
          <a:prstGeom prst="lef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Spring Boot 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4937760" cy="4937760"/>
          </a:xfrm>
          <a:prstGeom prst="roundRect">
            <a:avLst/>
          </a:prstGeom>
          <a:solidFill>
            <a:srgbClr val="1D222B"/>
          </a:solidFill>
          <a:ln>
            <a:solidFill>
              <a:srgbClr val="373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271016"/>
            <a:ext cx="461772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spring-saml-keycloak/</a:t>
            </a:r>
            <a:br/>
            <a:r>
              <a:t>├─ pom.xml</a:t>
            </a:r>
            <a:br/>
            <a:r>
              <a:t>└─ src/main/</a:t>
            </a:r>
            <a:br/>
            <a:r>
              <a:t>   ├─ java/com/example/samldemo/</a:t>
            </a:r>
            <a:br/>
            <a:r>
              <a:t>   │  ├─ SamlDemoApplication.java</a:t>
            </a:r>
            <a:br/>
            <a:r>
              <a:t>   │  ├─ config/SecurityConfig.java</a:t>
            </a:r>
            <a:br/>
            <a:r>
              <a:t>   │  └─ controller/HomeController.java</a:t>
            </a:r>
            <a:br/>
            <a:r>
              <a:t>   └─ resources/</a:t>
            </a:r>
            <a:br/>
            <a:r>
              <a:t>      ├─ application.yml</a:t>
            </a:r>
            <a:br/>
            <a:r>
              <a:t>      ├─ templates/home.html</a:t>
            </a:r>
            <a:br/>
            <a:r>
              <a:t>      └─ saml/</a:t>
            </a:r>
            <a:br/>
            <a:r>
              <a:t>         ├─ sp-private-key.pem</a:t>
            </a:r>
            <a:br/>
            <a:r>
              <a:t>         └─ sp-certificate.crt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23444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234440"/>
            <a:ext cx="73152" cy="128016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39903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Core dependency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828800"/>
            <a:ext cx="4956048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spring-security-saml2-service-provider provides Spring Security's SAML relying-party implementation.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74320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2743200"/>
            <a:ext cx="73152" cy="128016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90779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Template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3337560"/>
            <a:ext cx="4956048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spring-boot-starter-thymeleaf keeps HTML outside controller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25196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4251960"/>
            <a:ext cx="73152" cy="1280160"/>
          </a:xfrm>
          <a:prstGeom prst="rect">
            <a:avLst/>
          </a:prstGeom>
          <a:solidFill>
            <a:srgbClr val="CC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441655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9E3F"/>
                </a:solidFill>
              </a:defRPr>
            </a:pPr>
            <a:r>
              <a:t>OpenSAML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4846320"/>
            <a:ext cx="4956048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Spring Security uses OpenSAML internally for SAML XML objects, encoding, parsing, signing, and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Maven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51560"/>
            <a:ext cx="10972800" cy="4480560"/>
          </a:xfrm>
          <a:prstGeom prst="roundRect">
            <a:avLst/>
          </a:prstGeom>
          <a:solidFill>
            <a:srgbClr val="1D222B"/>
          </a:solidFill>
          <a:ln>
            <a:solidFill>
              <a:srgbClr val="373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179576"/>
            <a:ext cx="1065276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&lt;dependency&gt;</a:t>
            </a:r>
            <a:br/>
            <a:r>
              <a:t>  &lt;groupId&gt;org.springframework.boot&lt;/groupId&gt;</a:t>
            </a:r>
            <a:br/>
            <a:r>
              <a:t>  &lt;artifactId&gt;spring-boot-starter-web&lt;/artifactId&gt;</a:t>
            </a:r>
            <a:br/>
            <a:r>
              <a:t>&lt;/dependency&gt;</a:t>
            </a:r>
            <a:br/>
            <a:br/>
            <a:r>
              <a:t>&lt;dependency&gt;</a:t>
            </a:r>
            <a:br/>
            <a:r>
              <a:t>  &lt;groupId&gt;org.springframework.boot&lt;/groupId&gt;</a:t>
            </a:r>
            <a:br/>
            <a:r>
              <a:t>  &lt;artifactId&gt;spring-boot-starter-security&lt;/artifactId&gt;</a:t>
            </a:r>
            <a:br/>
            <a:r>
              <a:t>&lt;/dependency&gt;</a:t>
            </a:r>
            <a:br/>
            <a:br/>
            <a:r>
              <a:t>&lt;dependency&gt;</a:t>
            </a:r>
            <a:br/>
            <a:r>
              <a:t>  &lt;groupId&gt;org.springframework.security&lt;/groupId&gt;</a:t>
            </a:r>
            <a:br/>
            <a:r>
              <a:t>  &lt;artifactId&gt;spring-security-saml2-service-provider&lt;/artifactId&gt;</a:t>
            </a:r>
            <a:br/>
            <a:r>
              <a:t>&lt;/dependency&gt;</a:t>
            </a:r>
            <a:br/>
            <a:br/>
            <a:r>
              <a:t>&lt;dependency&gt;</a:t>
            </a:r>
            <a:br/>
            <a:r>
              <a:t>  &lt;groupId&gt;org.springframework.boot&lt;/groupId&gt;</a:t>
            </a:r>
            <a:br/>
            <a:r>
              <a:t>  &lt;artifactId&gt;spring-boot-starter-thymeleaf&lt;/artifactId&gt;</a:t>
            </a:r>
            <a:br/>
            <a:r>
              <a:t>&lt;/dependency&gt;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OpenSAML modules are normally transitive dependencies of Spring Security SAML; repository availability may depend on the selected Spring Security/OpenSAML version.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Spring SAML Configuration in application.yml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05840"/>
            <a:ext cx="6675120" cy="5074920"/>
          </a:xfrm>
          <a:prstGeom prst="roundRect">
            <a:avLst/>
          </a:prstGeom>
          <a:solidFill>
            <a:srgbClr val="1D222B"/>
          </a:solidFill>
          <a:ln>
            <a:solidFill>
              <a:srgbClr val="373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133856"/>
            <a:ext cx="63550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server:</a:t>
            </a:r>
            <a:br/>
            <a:r>
              <a:t>  port: 8080</a:t>
            </a:r>
            <a:br/>
            <a:br/>
            <a:r>
              <a:t>spring:</a:t>
            </a:r>
            <a:br/>
            <a:r>
              <a:t>  security:</a:t>
            </a:r>
            <a:br/>
            <a:r>
              <a:t>    saml2:</a:t>
            </a:r>
            <a:br/>
            <a:r>
              <a:t>      relyingparty:</a:t>
            </a:r>
            <a:br/>
            <a:r>
              <a:t>        registration:</a:t>
            </a:r>
            <a:br/>
            <a:r>
              <a:t>          keycloak:</a:t>
            </a:r>
            <a:br/>
            <a:r>
              <a:t>            entity-id: spring-saml-demo</a:t>
            </a:r>
            <a:br/>
            <a:r>
              <a:t>            signing:</a:t>
            </a:r>
            <a:br/>
            <a:r>
              <a:t>              credentials:</a:t>
            </a:r>
            <a:br/>
            <a:r>
              <a:t>                - private-key-location: classpath:saml/sp-private-key.pem</a:t>
            </a:r>
            <a:br/>
            <a:r>
              <a:t>                  certificate-location: classpath:saml/sp-certificate.crt</a:t>
            </a:r>
            <a:br/>
            <a:r>
              <a:t>            assertingparty:</a:t>
            </a:r>
            <a:br/>
            <a:r>
              <a:t>              metadata-uri: http://localhost:8081/realms/saml-demo/protocol/saml/descriptor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188720"/>
            <a:ext cx="3886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188720"/>
            <a:ext cx="73152" cy="114300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13533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registrationId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1783080"/>
            <a:ext cx="3538728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keycloak — used in Spring's generated SAML endpoint paths.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606040"/>
            <a:ext cx="3886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2606040"/>
            <a:ext cx="73152" cy="114300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7706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entity-id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3200400"/>
            <a:ext cx="3538728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spring-saml-demo — the SAML identity of the Spring Service Provider.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023360"/>
            <a:ext cx="3886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4023360"/>
            <a:ext cx="73152" cy="1417320"/>
          </a:xfrm>
          <a:prstGeom prst="rect">
            <a:avLst/>
          </a:prstGeom>
          <a:solidFill>
            <a:srgbClr val="CC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1879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9E3F"/>
                </a:solidFill>
              </a:defRPr>
            </a:pPr>
            <a:r>
              <a:t>metadata-uri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4617720"/>
            <a:ext cx="35387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Keycloak IdP metadata. Spring discovers Keycloak's entity ID, SSO endpoint, bindings, and certificate.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Minimal SecurityConfig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6583680" cy="4480560"/>
          </a:xfrm>
          <a:prstGeom prst="roundRect">
            <a:avLst/>
          </a:prstGeom>
          <a:solidFill>
            <a:srgbClr val="1D222B"/>
          </a:solidFill>
          <a:ln>
            <a:solidFill>
              <a:srgbClr val="373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225295"/>
            <a:ext cx="626364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@Bean</a:t>
            </a:r>
            <a:br/>
            <a:r>
              <a:t>SecurityFilterChain securityFilterChain(HttpSecurity http)</a:t>
            </a:r>
            <a:br/>
            <a:r>
              <a:t>        throws Exception {</a:t>
            </a:r>
            <a:br/>
            <a:br/>
            <a:r>
              <a:t>    http</a:t>
            </a:r>
            <a:br/>
            <a:r>
              <a:t>      .authorizeHttpRequests(auth -&gt; auth</a:t>
            </a:r>
            <a:br/>
            <a:r>
              <a:t>        .requestMatchers("/", "/error", "/saml2/metadata/**")</a:t>
            </a:r>
            <a:br/>
            <a:r>
              <a:t>        .permitAll()</a:t>
            </a:r>
            <a:br/>
            <a:r>
              <a:t>        .anyRequest().authenticated())</a:t>
            </a:r>
            <a:br/>
            <a:r>
              <a:t>      .saml2Login(withDefaults())</a:t>
            </a:r>
            <a:br/>
            <a:r>
              <a:t>      .saml2Metadata(withDefaults());</a:t>
            </a:r>
            <a:br/>
            <a:br/>
            <a:r>
              <a:t>    return http.build();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28016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280160"/>
            <a:ext cx="73152" cy="118872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1444751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saml2Login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1874519"/>
            <a:ext cx="3584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Installs the SAML Web SSO authentication filters and login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74320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2743200"/>
            <a:ext cx="73152" cy="118872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2907792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saml2Metadata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3337560"/>
            <a:ext cx="3584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Publishes Spring's Service Provider metadata endpoint.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2062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3800" y="4206240"/>
            <a:ext cx="73152" cy="1188720"/>
          </a:xfrm>
          <a:prstGeom prst="rect">
            <a:avLst/>
          </a:prstGeom>
          <a:solidFill>
            <a:srgbClr val="CC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4370831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9E3F"/>
                </a:solidFill>
              </a:defRPr>
            </a:pPr>
            <a:r>
              <a:t>Authorization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4800600"/>
            <a:ext cx="3584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Public landing page and metadata; application endpoints require authentication.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Keycloak — Local Setup and Realm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5577840" cy="1828800"/>
          </a:xfrm>
          <a:prstGeom prst="roundRect">
            <a:avLst/>
          </a:prstGeom>
          <a:solidFill>
            <a:srgbClr val="1D222B"/>
          </a:solidFill>
          <a:ln>
            <a:solidFill>
              <a:srgbClr val="373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271016"/>
            <a:ext cx="52578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call "%KEYCLOAK_HOME%\bin\kc.bat" start-dev ^</a:t>
            </a:r>
            <a:br/>
            <a:r>
              <a:t>  --http-port=8081 ^</a:t>
            </a:r>
            <a:br/>
            <a:r>
              <a:t>  --bootstrap-admin-username=admin ^</a:t>
            </a:r>
            <a:br/>
            <a:r>
              <a:t>  --bootstrap-admin-password=admin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5394960" cy="21945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2D38"/>
                </a:solidFill>
              </a:defRPr>
            </a:pPr>
            <a:r>
              <a:t>• Create realm: saml-demo</a:t>
            </a:r>
          </a:p>
          <a:p>
            <a:pPr>
              <a:spcAft>
                <a:spcPts val="900"/>
              </a:spcAft>
              <a:defRPr sz="1500">
                <a:solidFill>
                  <a:srgbClr val="262D38"/>
                </a:solidFill>
              </a:defRPr>
            </a:pPr>
            <a:r>
              <a:t>• Create normal test user: john</a:t>
            </a:r>
          </a:p>
          <a:p>
            <a:pPr>
              <a:spcAft>
                <a:spcPts val="900"/>
              </a:spcAft>
              <a:defRPr sz="1500">
                <a:solidFill>
                  <a:srgbClr val="262D38"/>
                </a:solidFill>
              </a:defRPr>
            </a:pPr>
            <a:r>
              <a:t>• Set a non-temporary password, e.g. password</a:t>
            </a:r>
          </a:p>
          <a:p>
            <a:pPr>
              <a:spcAft>
                <a:spcPts val="900"/>
              </a:spcAft>
              <a:defRPr sz="1500">
                <a:solidFill>
                  <a:srgbClr val="262D38"/>
                </a:solidFill>
              </a:defRPr>
            </a:pPr>
            <a:r>
              <a:t>• Keep admin/admin only for Keycloak administration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234440"/>
            <a:ext cx="4754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234440"/>
            <a:ext cx="73152" cy="128016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39903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Why port 8081?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828800"/>
            <a:ext cx="4407408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Spring Boot already uses 8080. Running Keycloak on 8081 avoids a local port conflict.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788920"/>
            <a:ext cx="4754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2788920"/>
            <a:ext cx="73152" cy="128016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295351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Development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3383279"/>
            <a:ext cx="4407408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start-dev is convenient for local learning and testing; production Keycloak should use production configuration and HTTPS.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343400"/>
            <a:ext cx="4754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4343400"/>
            <a:ext cx="73152" cy="1280160"/>
          </a:xfrm>
          <a:prstGeom prst="rect">
            <a:avLst/>
          </a:prstGeom>
          <a:solidFill>
            <a:srgbClr val="CC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450799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9E3F"/>
                </a:solidFill>
              </a:defRPr>
            </a:pPr>
            <a:r>
              <a:t>Realm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4937760"/>
            <a:ext cx="4407408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The test user must exist in saml-demo, not only in the master realm.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Keycloak — Create the SAML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233A"/>
                </a:solidFill>
              </a:defRPr>
            </a:pPr>
            <a:r>
              <a:t>Create a SAML client representing the Spring Boot Service Provider.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73152" cy="123444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4767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Client ID / Entity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77440"/>
            <a:ext cx="4864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spring-saml-demo</a:t>
            </a:r>
            <a:br/>
            <a:r>
              <a:t>Must correspond to Spring's SP entity-id.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73152" cy="123444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94767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Valid Redirect URIs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377440"/>
            <a:ext cx="4864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http://localhost:8080/login/saml2/sso/keycloak</a:t>
            </a:r>
            <a:br/>
            <a:r>
              <a:t>Allowlist for valid response destinations.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73152" cy="1417320"/>
          </a:xfrm>
          <a:prstGeom prst="rect">
            <a:avLst/>
          </a:prstGeom>
          <a:solidFill>
            <a:srgbClr val="CC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5021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9E3F"/>
                </a:solidFill>
              </a:defRPr>
            </a:pPr>
            <a:r>
              <a:t>Master SAML Processing 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931920"/>
            <a:ext cx="4864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http://localhost:8080/login/saml2/sso/keycloak</a:t>
            </a:r>
            <a:br/>
            <a:r>
              <a:t>The normal destination for the SAML Response.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3756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337560"/>
            <a:ext cx="73152" cy="1417320"/>
          </a:xfrm>
          <a:prstGeom prst="rect">
            <a:avLst/>
          </a:prstGeom>
          <a:solidFill>
            <a:srgbClr val="B5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5021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54141"/>
                </a:solidFill>
              </a:defRPr>
            </a:pPr>
            <a:r>
              <a:t>Signing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931920"/>
            <a:ext cx="4864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If Keycloak requires signed AuthnRequests, configure Spring's signing credential and give Keycloak the matching public certificate.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The processing URL is Spring Security's ACS (Assertion Consumer Service) endpoint.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SAML URL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2240280" cy="502920"/>
          </a:xfrm>
          <a:prstGeom prst="rect">
            <a:avLst/>
          </a:prstGeom>
          <a:solidFill>
            <a:srgbClr val="1623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075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188720"/>
            <a:ext cx="1234440" cy="502920"/>
          </a:xfrm>
          <a:prstGeom prst="rect">
            <a:avLst/>
          </a:prstGeom>
          <a:solidFill>
            <a:srgbClr val="1623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13075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188720"/>
            <a:ext cx="3977639" cy="502920"/>
          </a:xfrm>
          <a:prstGeom prst="rect">
            <a:avLst/>
          </a:prstGeom>
          <a:solidFill>
            <a:srgbClr val="1623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1307592"/>
            <a:ext cx="3840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429000" cy="502920"/>
          </a:xfrm>
          <a:prstGeom prst="rect">
            <a:avLst/>
          </a:prstGeom>
          <a:solidFill>
            <a:srgbClr val="1623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3075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Meaning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691640"/>
            <a:ext cx="22402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1801368"/>
            <a:ext cx="2103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1">
                <a:solidFill>
                  <a:srgbClr val="262D38"/>
                </a:solidFill>
              </a:defRPr>
            </a:pPr>
            <a:r>
              <a:t>Start SAML login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1691640"/>
            <a:ext cx="12344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7792" y="1801368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Spring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691640"/>
            <a:ext cx="3977639" cy="841248"/>
          </a:xfrm>
          <a:prstGeom prst="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33672" y="1801368"/>
            <a:ext cx="384047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/saml2/authenticate/keycloak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691640"/>
            <a:ext cx="3429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801368"/>
            <a:ext cx="3291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Creates AuthnRequest and redirects browser to IdP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532888"/>
            <a:ext cx="2240280" cy="841248"/>
          </a:xfrm>
          <a:prstGeom prst="rect">
            <a:avLst/>
          </a:prstGeom>
          <a:solidFill>
            <a:srgbClr val="F5F7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2642616"/>
            <a:ext cx="2103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1">
                <a:solidFill>
                  <a:srgbClr val="262D38"/>
                </a:solidFill>
              </a:defRPr>
            </a:pPr>
            <a:r>
              <a:t>Keycloak SSO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2532888"/>
            <a:ext cx="1234440" cy="841248"/>
          </a:xfrm>
          <a:prstGeom prst="rect">
            <a:avLst/>
          </a:prstGeom>
          <a:solidFill>
            <a:srgbClr val="F5F7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7792" y="2642616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Keycloak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2532888"/>
            <a:ext cx="3977639" cy="841248"/>
          </a:xfrm>
          <a:prstGeom prst="rect">
            <a:avLst/>
          </a:prstGeom>
          <a:solidFill>
            <a:srgbClr val="F5F7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33672" y="2642616"/>
            <a:ext cx="384047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/realms/saml-demo/protocol/saml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532888"/>
            <a:ext cx="3429000" cy="841248"/>
          </a:xfrm>
          <a:prstGeom prst="rect">
            <a:avLst/>
          </a:prstGeom>
          <a:solidFill>
            <a:srgbClr val="F5F7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2642616"/>
            <a:ext cx="3291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Receives AuthnRequest and performs SSO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374136"/>
            <a:ext cx="22402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3483864"/>
            <a:ext cx="2103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1">
                <a:solidFill>
                  <a:srgbClr val="262D38"/>
                </a:solidFill>
              </a:defRPr>
            </a:pPr>
            <a:r>
              <a:t>ACS / SAML response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374136"/>
            <a:ext cx="12344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07792" y="3483864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Spring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3374136"/>
            <a:ext cx="3977639" cy="841248"/>
          </a:xfrm>
          <a:prstGeom prst="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33672" y="3483864"/>
            <a:ext cx="384047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/login/saml2/sso/keycloak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374136"/>
            <a:ext cx="3429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3483864"/>
            <a:ext cx="3291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Receives POSTed SAMLResponse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215384"/>
            <a:ext cx="2240280" cy="841248"/>
          </a:xfrm>
          <a:prstGeom prst="rect">
            <a:avLst/>
          </a:prstGeom>
          <a:solidFill>
            <a:srgbClr val="F5F7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4325112"/>
            <a:ext cx="2103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1">
                <a:solidFill>
                  <a:srgbClr val="262D38"/>
                </a:solidFill>
              </a:defRPr>
            </a:pPr>
            <a:r>
              <a:t>SP metadata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4215384"/>
            <a:ext cx="1234440" cy="841248"/>
          </a:xfrm>
          <a:prstGeom prst="rect">
            <a:avLst/>
          </a:prstGeom>
          <a:solidFill>
            <a:srgbClr val="F5F7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07792" y="4325112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Spring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4215384"/>
            <a:ext cx="3977639" cy="841248"/>
          </a:xfrm>
          <a:prstGeom prst="rect">
            <a:avLst/>
          </a:prstGeom>
          <a:solidFill>
            <a:srgbClr val="F5F7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33672" y="4325112"/>
            <a:ext cx="384047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/saml2/metadata/keycloak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4215384"/>
            <a:ext cx="3429000" cy="841248"/>
          </a:xfrm>
          <a:prstGeom prst="rect">
            <a:avLst/>
          </a:prstGeom>
          <a:solidFill>
            <a:srgbClr val="F5F7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2752" y="4325112"/>
            <a:ext cx="3291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Describes Spring SP to SAML partners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056632"/>
            <a:ext cx="22402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" y="5166360"/>
            <a:ext cx="2103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1">
                <a:solidFill>
                  <a:srgbClr val="262D38"/>
                </a:solidFill>
              </a:defRPr>
            </a:pPr>
            <a:r>
              <a:t>IdP metadata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5056632"/>
            <a:ext cx="12344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07792" y="5166360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Keycloak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0520" y="5056632"/>
            <a:ext cx="3977639" cy="841248"/>
          </a:xfrm>
          <a:prstGeom prst="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33672" y="5166360"/>
            <a:ext cx="384047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/realms/saml-demo/protocol/saml/descriptor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5056632"/>
            <a:ext cx="3429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02752" y="5166360"/>
            <a:ext cx="3291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62D38"/>
                </a:solidFill>
              </a:defRPr>
            </a:pPr>
            <a:r>
              <a:t>Describes Keycloak IdP to Spring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End-to-End SAML Login Sequence — Browser-Carried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73152"/>
            <a:ext cx="411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14400"/>
            <a:ext cx="2377440" cy="594360"/>
          </a:xfrm>
          <a:prstGeom prst="roundRect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377440" cy="594360"/>
          </a:xfrm>
          <a:prstGeom prst="roundRect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Spring Security (SP)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914400"/>
            <a:ext cx="2377440" cy="594360"/>
          </a:xfrm>
          <a:prstGeom prst="roundRect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Keycloak (IdP)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1783080"/>
            <a:ext cx="2743200" cy="384048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  Start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6712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262D38"/>
                </a:solidFill>
              </a:defRPr>
            </a:pPr>
            <a:r>
              <a:t>GET /saml2/authenticate/keycloak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68880" y="2514600"/>
            <a:ext cx="7223760" cy="384048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  Browser carries AuthnRequest to Keycloak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98648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262D38"/>
                </a:solidFill>
              </a:defRPr>
            </a:pPr>
            <a:r>
              <a:t>Keycloak SSO: /realms/saml-demo/protocol/saml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2468880" y="3246120"/>
            <a:ext cx="7223760" cy="384048"/>
          </a:xfrm>
          <a:prstGeom prst="leftArrow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  Keycloak returns login page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68880" y="3794760"/>
            <a:ext cx="7223760" cy="384048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  Browser submits username / password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2468880" y="4343400"/>
            <a:ext cx="7223760" cy="384048"/>
          </a:xfrm>
          <a:prstGeom prst="leftArrow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  Keycloak returns form containing SAMLResponse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68880" y="4892040"/>
            <a:ext cx="2743200" cy="384048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  POST SAMLResponse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27608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262D38"/>
                </a:solidFill>
              </a:defRPr>
            </a:pPr>
            <a:r>
              <a:t>ACS: /login/saml2/sso/keycloak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2468880" y="5623560"/>
            <a:ext cx="2743200" cy="384048"/>
          </a:xfrm>
          <a:prstGeom prst="leftArrow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  Authenticated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44768"/>
            <a:ext cx="10881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6233A"/>
                </a:solidFill>
              </a:defRPr>
            </a:pPr>
            <a:r>
              <a:t>Important: SAML Web SSO is browser-mediated. The browser transports SAMLRequest and SAMLResponse between Spring and Keycloak.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Metadata Exchange — How Each Side Learns About the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0292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73152" cy="356616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444751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Spring SP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874519"/>
            <a:ext cx="4681728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URL:</a:t>
            </a:r>
            <a:br/>
            <a:r>
              <a:t>http://localhost:8080/saml2/metadata/keycloak</a:t>
            </a:r>
            <a:br/>
            <a:br/>
            <a:r>
              <a:t>Contains:</a:t>
            </a:r>
            <a:br/>
            <a:r>
              <a:t>• SP entity ID</a:t>
            </a:r>
            <a:br/>
            <a:r>
              <a:t>• ACS URL</a:t>
            </a:r>
            <a:br/>
            <a:r>
              <a:t>• supported bindings</a:t>
            </a:r>
            <a:br/>
            <a:r>
              <a:t>• SP signing certificate (when configured)</a:t>
            </a:r>
            <a:br/>
            <a:br/>
            <a:r>
              <a:t>Used by Keycloak / SAML administrators.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80160"/>
            <a:ext cx="50292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73152" cy="356616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444751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Keycloak IdP Metadata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874519"/>
            <a:ext cx="4681728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URL:</a:t>
            </a:r>
            <a:br/>
            <a:r>
              <a:t>http://localhost:8081/realms/saml-demo/protocol/saml/descriptor</a:t>
            </a:r>
            <a:br/>
            <a:br/>
            <a:r>
              <a:t>Contains:</a:t>
            </a:r>
            <a:br/>
            <a:r>
              <a:t>• IdP entity ID</a:t>
            </a:r>
            <a:br/>
            <a:r>
              <a:t>• SSO service endpoint</a:t>
            </a:r>
            <a:br/>
            <a:r>
              <a:t>• supported bindings</a:t>
            </a:r>
            <a:br/>
            <a:r>
              <a:t>• Keycloak signing certificate</a:t>
            </a:r>
            <a:br/>
            <a:br/>
            <a:r>
              <a:t>Consumed by Spring's metadata-uri.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578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233A"/>
                </a:solidFill>
              </a:defRPr>
            </a:pPr>
            <a:r>
              <a:t>Metadata reduces manual configuration and establishes the endpoint/certificate information required for federation.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15000" y="2743200"/>
            <a:ext cx="548640" cy="0"/>
          </a:xfrm>
          <a:prstGeom prst="line">
            <a:avLst/>
          </a:prstGeom>
          <a:ln w="3175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30368" y="235915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C9E3F"/>
                </a:solidFill>
              </a:defRPr>
            </a:pPr>
            <a:r>
              <a:t>metadata relationship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Digital Signatures and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73152" cy="182880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990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Spring → Keycloak: AuthnRequest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28800"/>
            <a:ext cx="49103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Spring can sign the AuthnRequest with its private key. Keycloak verifies it with Spring's public certificate.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73152" cy="182880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3990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Keycloak → Spring: SAML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28800"/>
            <a:ext cx="49103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Keycloak signs the response/assertion with its private key. Spring verifies it using the certificate obtained from IdP metadata.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233A"/>
                </a:solidFill>
              </a:defRPr>
            </a:pPr>
            <a:r>
              <a:t>Private keys never leave the system that owns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4340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C5FA0"/>
                </a:solidFill>
              </a:defRPr>
            </a:pPr>
            <a:r>
              <a:t>Spring private key</a:t>
            </a:r>
            <a:br/>
            <a:r>
              <a:t>→ signs AuthnRequest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4340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28791"/>
                </a:solidFill>
              </a:defRPr>
            </a:pPr>
            <a:r>
              <a:t>Keycloak private key</a:t>
            </a:r>
            <a:br/>
            <a:r>
              <a:t>→ signs SAML Response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94960" y="4709160"/>
            <a:ext cx="1051560" cy="0"/>
          </a:xfrm>
          <a:prstGeom prst="line">
            <a:avLst/>
          </a:prstGeom>
          <a:ln w="31750">
            <a:solidFill>
              <a:srgbClr val="CC9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5840" y="53035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62D38"/>
                </a:solidFill>
              </a:defRPr>
            </a:pPr>
            <a:r>
              <a:t>Public certificates are exchanged or published through configuration/metadata so signatures can be verified.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Enabling Signed AuthnRequests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6217920" cy="4434840"/>
          </a:xfrm>
          <a:prstGeom prst="roundRect">
            <a:avLst/>
          </a:prstGeom>
          <a:solidFill>
            <a:srgbClr val="1D222B"/>
          </a:solidFill>
          <a:ln>
            <a:solidFill>
              <a:srgbClr val="373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225295"/>
            <a:ext cx="58978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spring:</a:t>
            </a:r>
            <a:br/>
            <a:r>
              <a:t>  security:</a:t>
            </a:r>
            <a:br/>
            <a:r>
              <a:t>    saml2:</a:t>
            </a:r>
            <a:br/>
            <a:r>
              <a:t>      relyingparty:</a:t>
            </a:r>
            <a:br/>
            <a:r>
              <a:t>        registration:</a:t>
            </a:r>
            <a:br/>
            <a:r>
              <a:t>          keycloak:</a:t>
            </a:r>
            <a:br/>
            <a:r>
              <a:t>            entity-id: spring-saml-demo</a:t>
            </a:r>
            <a:br/>
            <a:r>
              <a:t>            signing:</a:t>
            </a:r>
            <a:br/>
            <a:r>
              <a:t>              credentials:</a:t>
            </a:r>
            <a:br/>
            <a:r>
              <a:t>                - private-key-location: classpath:saml/sp-private-key.pem</a:t>
            </a:r>
            <a:br/>
            <a:r>
              <a:t>                  certificate-location: classpath:saml/sp-certificate.crt</a:t>
            </a:r>
            <a:br/>
            <a:r>
              <a:t>            assertingparty:</a:t>
            </a:r>
            <a:br/>
            <a:r>
              <a:t>              metadata-uri: http://localhost:8081/realms/saml-demo/protocol/saml/descriptor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280160"/>
            <a:ext cx="4206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1280160"/>
            <a:ext cx="73152" cy="118872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444751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Spring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1874519"/>
            <a:ext cx="3858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Keeps the private key and uses it to sign outgoing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2743200"/>
            <a:ext cx="4206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8040" y="2743200"/>
            <a:ext cx="73152" cy="118872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9208" y="2907792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Keycloak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3337560"/>
            <a:ext cx="3858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Receives/trusts Spring's public certificate and verifies signatures.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4206240"/>
            <a:ext cx="4206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78040" y="4206240"/>
            <a:ext cx="73152" cy="1188720"/>
          </a:xfrm>
          <a:prstGeom prst="rect">
            <a:avLst/>
          </a:prstGeom>
          <a:solidFill>
            <a:srgbClr val="B5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9208" y="4370831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54141"/>
                </a:solidFill>
              </a:defRPr>
            </a:pPr>
            <a:r>
              <a:t>Common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8" y="4800600"/>
            <a:ext cx="3858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“Failed to resolve any signing credential” means signing was required but Spring had no usable signing key/certificate.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When AuthnRequests Are Not 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5486400" cy="1828800"/>
          </a:xfrm>
          <a:prstGeom prst="roundRect">
            <a:avLst/>
          </a:prstGeom>
          <a:solidFill>
            <a:srgbClr val="1D222B"/>
          </a:solidFill>
          <a:ln>
            <a:solidFill>
              <a:srgbClr val="373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316736"/>
            <a:ext cx="5166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.assertingPartyMetadata(metadata -&gt;</a:t>
            </a:r>
            <a:br/>
            <a:r>
              <a:t>    metadata.wantAuthnRequestsSigned(false)</a:t>
            </a:r>
            <a:br/>
            <a: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188720"/>
            <a:ext cx="4663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188720"/>
            <a:ext cx="73152" cy="137160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353312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783080"/>
            <a:ext cx="4315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The IdP is treated as not requiring Spring's outgoing AuthnRequest to be digitally signed.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29000"/>
            <a:ext cx="73152" cy="141732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593592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Still secure in the other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23360"/>
            <a:ext cx="46817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Spring can and should still verify Keycloak's signed SAML Response/Assertion.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42900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29000"/>
            <a:ext cx="73152" cy="1417320"/>
          </a:xfrm>
          <a:prstGeom prst="rect">
            <a:avLst/>
          </a:prstGeom>
          <a:solidFill>
            <a:srgbClr val="CC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59359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9E3F"/>
                </a:solidFill>
              </a:defRPr>
            </a:pPr>
            <a:r>
              <a:t>Use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4023360"/>
            <a:ext cx="47731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Useful for a learning/demo environment before introducing SP key management and request-signature validation.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54141"/>
                </a:solidFill>
              </a:defRPr>
            </a:pPr>
            <a:r>
              <a:t>Do not confuse “unsigned AuthnRequest” with “do not validate the IdP response.” They are separate controls.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Application UI and Protected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5120640" cy="2926080"/>
          </a:xfrm>
          <a:prstGeom prst="roundRect">
            <a:avLst/>
          </a:prstGeom>
          <a:solidFill>
            <a:srgbClr val="1D222B"/>
          </a:solidFill>
          <a:ln>
            <a:solidFill>
              <a:srgbClr val="373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271016"/>
            <a:ext cx="480060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@Controller</a:t>
            </a:r>
            <a:br/>
            <a:r>
              <a:t>public class HomeController {</a:t>
            </a:r>
            <a:br/>
            <a:br/>
            <a:r>
              <a:t>  @GetMapping("/")</a:t>
            </a:r>
            <a:br/>
            <a:r>
              <a:t>  public String home() {</a:t>
            </a:r>
            <a:br/>
            <a:r>
              <a:t>      return "home";</a:t>
            </a:r>
            <a:br/>
            <a:r>
              <a:t>  }</a:t>
            </a:r>
            <a:br/>
            <a:br/>
            <a:r>
              <a:t>  @GetMapping("/user")</a:t>
            </a:r>
            <a:br/>
            <a:r>
              <a:t>  @ResponseBody</a:t>
            </a:r>
            <a:br/>
            <a:r>
              <a:t>  public Map&lt;String,Object&gt; user(Authentication auth) {</a:t>
            </a:r>
            <a:br/>
            <a:r>
              <a:t>      ...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43000"/>
            <a:ext cx="5394960" cy="2926080"/>
          </a:xfrm>
          <a:prstGeom prst="roundRect">
            <a:avLst/>
          </a:prstGeom>
          <a:solidFill>
            <a:srgbClr val="1D222B"/>
          </a:solidFill>
          <a:ln>
            <a:solidFill>
              <a:srgbClr val="373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271016"/>
            <a:ext cx="507492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&lt;!-- templates/home.html --&gt;</a:t>
            </a:r>
            <a:br/>
            <a:r>
              <a:t>&lt;a href="/saml2/authenticate/keycloak"&gt;</a:t>
            </a:r>
            <a:br/>
            <a:r>
              <a:t>  Login with Keycloak</a:t>
            </a:r>
            <a:br/>
            <a:r>
              <a:t>&lt;/a&gt;</a:t>
            </a:r>
            <a:br/>
            <a:br/>
            <a:r>
              <a:t>&lt;a href="/user"&gt;</a:t>
            </a:r>
            <a:br/>
            <a:r>
              <a:t>  SAML user attributes</a:t>
            </a:r>
            <a:br/>
            <a:r>
              <a:t>&lt;/a&gt;</a:t>
            </a:r>
            <a:br/>
            <a:br/>
            <a:r>
              <a:t>&lt;a href="/saml2/metadata/keycloak"&gt;</a:t>
            </a:r>
            <a:br/>
            <a:r>
              <a:t>  Service Provider metadata</a:t>
            </a:r>
            <a:br/>
            <a:r>
              <a:t>&lt;/a&gt;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D38"/>
                </a:solidFill>
              </a:defRPr>
            </a:pPr>
            <a:r>
              <a:t>After successful login, Spring exposes a Saml2Authentication whose principal contains the NameID, attributes, authorities, and session indexes.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33A"/>
                </a:solidFill>
              </a:defRPr>
            </a:pPr>
            <a:r>
              <a:t>This keeps presentation (Thymeleaf), HTTP security, and SAML registration concerns cleanly separated.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Troubleshooting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51560"/>
            <a:ext cx="108356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051560"/>
            <a:ext cx="73152" cy="804672"/>
          </a:xfrm>
          <a:prstGeom prst="rect">
            <a:avLst/>
          </a:prstGeom>
          <a:solidFill>
            <a:srgbClr val="B5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21615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54141"/>
                </a:solidFill>
              </a:defRPr>
            </a:pPr>
            <a:r>
              <a:t>404 on /saml2/metadata/keycloak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645919"/>
            <a:ext cx="10488167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Ensure .saml2Metadata(withDefaults()) is configured and the registrationId is keycloak.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39112"/>
            <a:ext cx="108356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039112"/>
            <a:ext cx="73152" cy="804672"/>
          </a:xfrm>
          <a:prstGeom prst="rect">
            <a:avLst/>
          </a:prstGeom>
          <a:solidFill>
            <a:srgbClr val="B5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037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54141"/>
                </a:solidFill>
              </a:defRPr>
            </a:pPr>
            <a:r>
              <a:t>relyingPartyRegistrationRepository cannot be null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633472"/>
            <a:ext cx="10488167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Spring did not create/find a relying-party registration. Check YAML structure and SAML dependency.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26664"/>
            <a:ext cx="108356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026664"/>
            <a:ext cx="73152" cy="804672"/>
          </a:xfrm>
          <a:prstGeom prst="rect">
            <a:avLst/>
          </a:prstGeom>
          <a:solidFill>
            <a:srgbClr val="B5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1912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54141"/>
                </a:solidFill>
              </a:defRPr>
            </a:pPr>
            <a:r>
              <a:t>Failed to resolve any signing credential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621024"/>
            <a:ext cx="10488167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AuthnRequest signing is required but no SP private key/certificate is configured.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14216"/>
            <a:ext cx="108356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014216"/>
            <a:ext cx="73152" cy="804672"/>
          </a:xfrm>
          <a:prstGeom prst="rect">
            <a:avLst/>
          </a:prstGeom>
          <a:solidFill>
            <a:srgbClr val="CC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1788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9E3F"/>
                </a:solidFill>
              </a:defRPr>
            </a:pPr>
            <a:r>
              <a:t>Keycloak login rejects john/password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608576"/>
            <a:ext cx="10488167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Confirm john is enabled in saml-demo realm and the password is non-temporary.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01768"/>
            <a:ext cx="108356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001768"/>
            <a:ext cx="73152" cy="804672"/>
          </a:xfrm>
          <a:prstGeom prst="rect">
            <a:avLst/>
          </a:prstGeom>
          <a:solidFill>
            <a:srgbClr val="CC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166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9E3F"/>
                </a:solidFill>
              </a:defRPr>
            </a:pPr>
            <a:r>
              <a:t>SAML response rejected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596128"/>
            <a:ext cx="10488167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Compare entity ID, ACS URL, audience, signatures, clocks, and Keycloak client settings.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Production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28C"/>
                </a:solidFill>
              </a:defRPr>
            </a:pPr>
            <a:r>
              <a:t>Spring Security SAML 2.0 + Keycloak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5303520" cy="4937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900"/>
              </a:spcAft>
              <a:defRPr sz="1550">
                <a:solidFill>
                  <a:srgbClr val="262D38"/>
                </a:solidFill>
              </a:defRPr>
            </a:pPr>
            <a:r>
              <a:t>• Use HTTPS for both SP and IdP endpoints.</a:t>
            </a:r>
          </a:p>
          <a:p>
            <a:pPr>
              <a:spcAft>
                <a:spcPts val="900"/>
              </a:spcAft>
              <a:defRPr sz="1550">
                <a:solidFill>
                  <a:srgbClr val="262D38"/>
                </a:solidFill>
              </a:defRPr>
            </a:pPr>
            <a:r>
              <a:t>• Protect SP private keys outside source control.</a:t>
            </a:r>
          </a:p>
          <a:p>
            <a:pPr>
              <a:spcAft>
                <a:spcPts val="900"/>
              </a:spcAft>
              <a:defRPr sz="1550">
                <a:solidFill>
                  <a:srgbClr val="262D38"/>
                </a:solidFill>
              </a:defRPr>
            </a:pPr>
            <a:r>
              <a:t>• Use trusted certificate lifecycle and rotation procedures.</a:t>
            </a:r>
          </a:p>
          <a:p>
            <a:pPr>
              <a:spcAft>
                <a:spcPts val="900"/>
              </a:spcAft>
              <a:defRPr sz="1550">
                <a:solidFill>
                  <a:srgbClr val="262D38"/>
                </a:solidFill>
              </a:defRPr>
            </a:pPr>
            <a:r>
              <a:t>• Validate signed SAML responses/assertions and expected audience/issuer.</a:t>
            </a:r>
          </a:p>
          <a:p>
            <a:pPr>
              <a:spcAft>
                <a:spcPts val="900"/>
              </a:spcAft>
              <a:defRPr sz="1550">
                <a:solidFill>
                  <a:srgbClr val="262D38"/>
                </a:solidFill>
              </a:defRPr>
            </a:pPr>
            <a:r>
              <a:t>• Use environment-specific URLs and externalized configuration.</a:t>
            </a:r>
          </a:p>
          <a:p>
            <a:pPr>
              <a:spcAft>
                <a:spcPts val="900"/>
              </a:spcAft>
              <a:defRPr sz="1550">
                <a:solidFill>
                  <a:srgbClr val="262D38"/>
                </a:solidFill>
              </a:defRPr>
            </a:pPr>
            <a:r>
              <a:t>• Map only required SAML attributes and authorities.</a:t>
            </a:r>
          </a:p>
          <a:p>
            <a:pPr>
              <a:spcAft>
                <a:spcPts val="900"/>
              </a:spcAft>
              <a:defRPr sz="1550">
                <a:solidFill>
                  <a:srgbClr val="262D38"/>
                </a:solidFill>
              </a:defRPr>
            </a:pPr>
            <a:r>
              <a:t>• Enable appropriate logging for diagnostics without exposing sensitive assertions.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2588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73152" cy="1417320"/>
          </a:xfrm>
          <a:prstGeom prst="rect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4904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A0"/>
                </a:solidFill>
              </a:defRPr>
            </a:pPr>
            <a:r>
              <a:t>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920240"/>
            <a:ext cx="44531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localhost, start-dev, self-signed keys, simple users.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06324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063240"/>
            <a:ext cx="73152" cy="1417320"/>
          </a:xfrm>
          <a:prstGeom prst="rect">
            <a:avLst/>
          </a:prstGeom>
          <a:solidFill>
            <a:srgbClr val="22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32278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791"/>
                </a:solidFill>
              </a:defRPr>
            </a:pPr>
            <a:r>
              <a:t>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657600"/>
            <a:ext cx="44531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HTTPS, managed secrets, hardened Keycloak, certificate rotation, monitoring.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800600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800600"/>
            <a:ext cx="73152" cy="960120"/>
          </a:xfrm>
          <a:prstGeom prst="rect">
            <a:avLst/>
          </a:prstGeom>
          <a:solidFill>
            <a:srgbClr val="CC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9651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9E3F"/>
                </a:solidFill>
              </a:defRPr>
            </a:pPr>
            <a:r>
              <a:t>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5394960"/>
            <a:ext cx="4453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8"/>
                </a:solidFill>
              </a:defRPr>
            </a:pPr>
            <a:r>
              <a:t>Federation moves authentication responsibility; it does not remove the need for secure trust configuration.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Final Reference — Runtime URLs and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73152"/>
            <a:ext cx="411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2834640" cy="640080"/>
          </a:xfrm>
          <a:prstGeom prst="roundRect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960120"/>
            <a:ext cx="2834640" cy="640080"/>
          </a:xfrm>
          <a:prstGeom prst="roundRect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Spring Security :8080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960120"/>
            <a:ext cx="2834640" cy="640080"/>
          </a:xfrm>
          <a:prstGeom prst="roundRect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Keycloak :8081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34640" y="1874519"/>
            <a:ext cx="2331720" cy="457200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START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3172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62D38"/>
                </a:solidFill>
              </a:defRPr>
            </a:pPr>
            <a:r>
              <a:t>/saml2/authenticate/keycloak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34640" y="2743200"/>
            <a:ext cx="6492240" cy="457200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AuthnRequest → Keycloak 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20040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62D38"/>
                </a:solidFill>
              </a:defRPr>
            </a:pPr>
            <a:r>
              <a:t>/realms/saml-demo/protocol/saml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2834640" y="3657600"/>
            <a:ext cx="6492240" cy="457200"/>
          </a:xfrm>
          <a:prstGeom prst="leftArrow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SAMLResponse → browser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34640" y="4343400"/>
            <a:ext cx="2331720" cy="457200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POST TO ACS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480060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62D38"/>
                </a:solidFill>
              </a:defRPr>
            </a:pPr>
            <a:r>
              <a:t>/login/saml2/sso/keycloak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6233A"/>
                </a:solidFill>
              </a:defRPr>
            </a:pPr>
            <a:r>
              <a:t>Metadata directions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72000" y="5760720"/>
            <a:ext cx="3657600" cy="347472"/>
          </a:xfrm>
          <a:prstGeom prst="rightArrow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Spring SP metadata → Keycloak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4572000" y="6172200"/>
            <a:ext cx="3657600" cy="347472"/>
          </a:xfrm>
          <a:prstGeom prst="leftArrow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Keycloak IdP metadata → Spring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Detailed HTTP + SAML Request / Response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73152"/>
            <a:ext cx="411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14400"/>
            <a:ext cx="2377440" cy="594360"/>
          </a:xfrm>
          <a:prstGeom prst="roundRect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377440" cy="594360"/>
          </a:xfrm>
          <a:prstGeom prst="roundRect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Spring Security (SP)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914400"/>
            <a:ext cx="2377440" cy="594360"/>
          </a:xfrm>
          <a:prstGeom prst="roundRect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Keycloak (IdP)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1737360"/>
            <a:ext cx="2743200" cy="365760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  GET protected URL / start login</a:t>
            </a:r>
          </a:p>
        </p:txBody>
      </p:sp>
      <p:sp>
        <p:nvSpPr>
          <p:cNvPr id="10" name="Left Arrow 9"/>
          <p:cNvSpPr/>
          <p:nvPr/>
        </p:nvSpPr>
        <p:spPr>
          <a:xfrm>
            <a:off x="2468880" y="2286000"/>
            <a:ext cx="2743200" cy="365760"/>
          </a:xfrm>
          <a:prstGeom prst="leftArrow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  302 redirect + SAMLRequest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68880" y="2834640"/>
            <a:ext cx="7223760" cy="365760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  GET Keycloak SSO with AuthnRequest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2468880" y="3383280"/>
            <a:ext cx="7223760" cy="365760"/>
          </a:xfrm>
          <a:prstGeom prst="leftArrow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  Login page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68880" y="3931920"/>
            <a:ext cx="7223760" cy="365760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  POST credentials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2468880" y="4480560"/>
            <a:ext cx="7223760" cy="365760"/>
          </a:xfrm>
          <a:prstGeom prst="leftArrow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  HTML form with SAMLResponse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8880" y="5029200"/>
            <a:ext cx="2743200" cy="365760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7  POST SAMLResponse to ACS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2468880" y="5577840"/>
            <a:ext cx="2743200" cy="365760"/>
          </a:xfrm>
          <a:prstGeom prst="leftArrow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8  Redirect / application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14476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6233A"/>
                </a:solidFill>
              </a:defRPr>
            </a:pPr>
            <a:r>
              <a:t>The arrows are filled PowerPoint arrow shapes (not connector lines) for maximum compatibility and visibility.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SAML Browser SSO — Request / Response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14400"/>
            <a:ext cx="2743200" cy="713232"/>
          </a:xfrm>
          <a:prstGeom prst="roundRect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914400"/>
            <a:ext cx="2743200" cy="713232"/>
          </a:xfrm>
          <a:prstGeom prst="roundRect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Spring Security</a:t>
            </a:r>
            <a:br/>
            <a:r>
              <a:t>Service Provider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914400"/>
            <a:ext cx="2743200" cy="713232"/>
          </a:xfrm>
          <a:prstGeom prst="roundRect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Keycloak</a:t>
            </a:r>
            <a:br/>
            <a:r>
              <a:t>Identity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901951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</a:defRPr>
            </a:pPr>
            <a:r>
              <a:t>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51560" y="1874519"/>
            <a:ext cx="3337560" cy="347472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/saml2/authenticate/keycloak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865376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0">
                <a:solidFill>
                  <a:srgbClr val="262D38"/>
                </a:solidFill>
              </a:defRPr>
            </a:pPr>
            <a:r>
              <a:t>Browser requests protected page / starts SAML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450591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</a:defRPr>
            </a:pPr>
            <a:r>
              <a:t>2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1051560" y="2423160"/>
            <a:ext cx="3337560" cy="347472"/>
          </a:xfrm>
          <a:prstGeom prst="leftArrow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302 Redirect + SAMLRequest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414016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0">
                <a:solidFill>
                  <a:srgbClr val="262D38"/>
                </a:solidFill>
              </a:defRPr>
            </a:pPr>
            <a:r>
              <a:t>Spring returns redirect containing SAML AuthnRequest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2999232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</a:defRPr>
            </a:pPr>
            <a:r>
              <a:t>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51560" y="2971800"/>
            <a:ext cx="7315200" cy="347472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/realms/saml-demo/protocol/saml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962656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0">
                <a:solidFill>
                  <a:srgbClr val="262D38"/>
                </a:solidFill>
              </a:defRPr>
            </a:pPr>
            <a:r>
              <a:t>Browser sends AuthnRequest to Keycloak SSO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3547872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</a:defRPr>
            </a:pPr>
            <a:r>
              <a:t>4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1051560" y="3520440"/>
            <a:ext cx="7315200" cy="347472"/>
          </a:xfrm>
          <a:prstGeom prst="leftArrow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Login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511296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0">
                <a:solidFill>
                  <a:srgbClr val="262D38"/>
                </a:solidFill>
              </a:defRPr>
            </a:pPr>
            <a:r>
              <a:t>Keycloak returns login page to 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4096512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</a:defRPr>
            </a:pPr>
            <a:r>
              <a:t>5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51560" y="4069080"/>
            <a:ext cx="7315200" cy="347472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john / password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059936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0">
                <a:solidFill>
                  <a:srgbClr val="262D38"/>
                </a:solidFill>
              </a:defRPr>
            </a:pPr>
            <a:r>
              <a:t>Browser submits user credentials to Keycloak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4645152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</a:defRPr>
            </a:pPr>
            <a:r>
              <a:t>6</a:t>
            </a:r>
          </a:p>
        </p:txBody>
      </p:sp>
      <p:sp>
        <p:nvSpPr>
          <p:cNvPr id="24" name="Left Arrow 23"/>
          <p:cNvSpPr/>
          <p:nvPr/>
        </p:nvSpPr>
        <p:spPr>
          <a:xfrm>
            <a:off x="1051560" y="4617720"/>
            <a:ext cx="7315200" cy="347472"/>
          </a:xfrm>
          <a:prstGeom prst="leftArrow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SAMLResponse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608576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0">
                <a:solidFill>
                  <a:srgbClr val="262D38"/>
                </a:solidFill>
              </a:defRPr>
            </a:pPr>
            <a:r>
              <a:t>Keycloak returns browser form containing SAMLResponse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5193792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</a:defRPr>
            </a:pPr>
            <a:r>
              <a:t>7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51560" y="5166360"/>
            <a:ext cx="3337560" cy="347472"/>
          </a:xfrm>
          <a:prstGeom prst="rightArrow">
            <a:avLst/>
          </a:prstGeom>
          <a:solidFill>
            <a:srgbClr val="CC9E3F"/>
          </a:solidFill>
          <a:ln>
            <a:solidFill>
              <a:srgbClr val="CC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/login/saml2/sso/keycloak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5157216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0">
                <a:solidFill>
                  <a:srgbClr val="262D38"/>
                </a:solidFill>
              </a:defRPr>
            </a:pPr>
            <a:r>
              <a:t>Browser POSTs SAMLResponse to Spring ACS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5742432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</a:defRPr>
            </a:pPr>
            <a:r>
              <a:t>8</a:t>
            </a:r>
          </a:p>
        </p:txBody>
      </p:sp>
      <p:sp>
        <p:nvSpPr>
          <p:cNvPr id="30" name="Left Arrow 29"/>
          <p:cNvSpPr/>
          <p:nvPr/>
        </p:nvSpPr>
        <p:spPr>
          <a:xfrm>
            <a:off x="1051560" y="5715000"/>
            <a:ext cx="3337560" cy="347472"/>
          </a:xfrm>
          <a:prstGeom prst="leftArrow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Authenticated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5705856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0">
                <a:solidFill>
                  <a:srgbClr val="262D38"/>
                </a:solidFill>
              </a:defRPr>
            </a:pPr>
            <a:r>
              <a:t>Spring establishes authenticated session and responds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23620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233A"/>
                </a:solidFill>
              </a:defRPr>
            </a:pPr>
            <a:r>
              <a:t>Metadata / configuration relationship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886200" y="6446520"/>
            <a:ext cx="4206240" cy="256032"/>
          </a:xfrm>
          <a:prstGeom prst="rightArrow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Spring SP metadata → Keycloak</a:t>
            </a:r>
          </a:p>
        </p:txBody>
      </p:sp>
      <p:sp>
        <p:nvSpPr>
          <p:cNvPr id="34" name="Left Arrow 33"/>
          <p:cNvSpPr/>
          <p:nvPr/>
        </p:nvSpPr>
        <p:spPr>
          <a:xfrm>
            <a:off x="3886200" y="6729984"/>
            <a:ext cx="4206240" cy="256032"/>
          </a:xfrm>
          <a:prstGeom prst="leftArrow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Keycloak IdP metadata → Spring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Sample Spring Service Provider (SP)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73152"/>
            <a:ext cx="411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7315200" cy="5257800"/>
          </a:xfrm>
          <a:prstGeom prst="roundRect">
            <a:avLst/>
          </a:prstGeom>
          <a:solidFill>
            <a:srgbClr val="1D222B"/>
          </a:solidFill>
          <a:ln>
            <a:solidFill>
              <a:srgbClr val="373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15568"/>
            <a:ext cx="69494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E2E8F0"/>
                </a:solidFill>
                <a:latin typeface="Consolas"/>
              </a:defRPr>
            </a:pPr>
            <a:r>
              <a:t>&lt;EntityDescriptor entityID="spring-saml-demo"</a:t>
            </a:r>
            <a:br/>
            <a:r>
              <a:t> xmlns="urn:oasis:names:tc:SAML:2.0:metadata"&gt;</a:t>
            </a:r>
            <a:br/>
            <a:r>
              <a:t>  &lt;SPSSODescriptor</a:t>
            </a:r>
            <a:br/>
            <a:r>
              <a:t>   protocolSupportEnumeration="urn:oasis:names:tc:SAML:2.0:protocol"</a:t>
            </a:r>
            <a:br/>
            <a:r>
              <a:t>   AuthnRequestsSigned="true"&gt;</a:t>
            </a:r>
            <a:br/>
            <a:br/>
            <a:r>
              <a:t>    &lt;KeyDescriptor use="signing"&gt;</a:t>
            </a:r>
            <a:br/>
            <a:r>
              <a:t>      &lt;KeyInfo xmlns="http://www.w3.org/2000/09/xmldsig#"&gt;</a:t>
            </a:r>
            <a:br/>
            <a:r>
              <a:t>        &lt;X509Data&gt;</a:t>
            </a:r>
            <a:br/>
            <a:r>
              <a:t>          &lt;X509Certificate&gt;MIIC...SPRING_SP_CERTIFICATE...AB&lt;/X509Certificate&gt;</a:t>
            </a:r>
            <a:br/>
            <a:r>
              <a:t>        &lt;/X509Data&gt;</a:t>
            </a:r>
            <a:br/>
            <a:r>
              <a:t>      &lt;/KeyInfo&gt;</a:t>
            </a:r>
            <a:br/>
            <a:r>
              <a:t>    &lt;/KeyDescriptor&gt;</a:t>
            </a:r>
            <a:br/>
            <a:br/>
            <a:r>
              <a:t>    &lt;AssertionConsumerService</a:t>
            </a:r>
            <a:br/>
            <a:r>
              <a:t>      Binding="urn:oasis:names:tc:SAML:2.0:bindings:HTTP-POST"</a:t>
            </a:r>
            <a:br/>
            <a:r>
              <a:t>      Location="http://localhost:8080/login/saml2/sso/keycloak"</a:t>
            </a:r>
            <a:br/>
            <a:r>
              <a:t>      index="0"/&gt;</a:t>
            </a:r>
            <a:br/>
            <a:r>
              <a:t>  &lt;/SPSSODescriptor&gt;</a:t>
            </a:r>
            <a:br/>
            <a:r>
              <a:t>&lt;/EntityDescriptor&gt;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18872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C5FA0"/>
                </a:solidFill>
              </a:defRPr>
            </a:pPr>
            <a:r>
              <a:t>What Keycloak learns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78308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62D38"/>
                </a:solidFill>
              </a:defRPr>
            </a:pPr>
            <a:r>
              <a:t>• SP Entity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496312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62D38"/>
                </a:solidFill>
              </a:defRPr>
            </a:pPr>
            <a:r>
              <a:t>• Whether AuthnRequests are 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09544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62D38"/>
                </a:solidFill>
              </a:defRPr>
            </a:pPr>
            <a:r>
              <a:t>• Spring public signing certificate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922776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62D38"/>
                </a:solidFill>
              </a:defRPr>
            </a:pPr>
            <a:r>
              <a:t>• ACS URL and HTTP binding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09560" y="4983480"/>
            <a:ext cx="3200400" cy="411480"/>
          </a:xfrm>
          <a:prstGeom prst="rightArrow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Spring metadata → Keycloak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Sample Keycloak Identity Provider (IdP)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73152"/>
            <a:ext cx="411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7315200" cy="5257800"/>
          </a:xfrm>
          <a:prstGeom prst="roundRect">
            <a:avLst/>
          </a:prstGeom>
          <a:solidFill>
            <a:srgbClr val="1D222B"/>
          </a:solidFill>
          <a:ln>
            <a:solidFill>
              <a:srgbClr val="373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15568"/>
            <a:ext cx="69494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E2E8F0"/>
                </a:solidFill>
                <a:latin typeface="Consolas"/>
              </a:defRPr>
            </a:pPr>
            <a:r>
              <a:t>&lt;EntityDescriptor</a:t>
            </a:r>
            <a:br/>
            <a:r>
              <a:t> entityID="http://localhost:8081/realms/saml-demo"</a:t>
            </a:r>
            <a:br/>
            <a:r>
              <a:t> xmlns="urn:oasis:names:tc:SAML:2.0:metadata"&gt;</a:t>
            </a:r>
            <a:br/>
            <a:r>
              <a:t>  &lt;IDPSSODescriptor</a:t>
            </a:r>
            <a:br/>
            <a:r>
              <a:t>   protocolSupportEnumeration="urn:oasis:names:tc:SAML:2.0:protocol"</a:t>
            </a:r>
            <a:br/>
            <a:r>
              <a:t>   WantAuthnRequestsSigned="true"&gt;</a:t>
            </a:r>
            <a:br/>
            <a:br/>
            <a:r>
              <a:t>    &lt;KeyDescriptor use="signing"&gt;</a:t>
            </a:r>
            <a:br/>
            <a:r>
              <a:t>      &lt;KeyInfo xmlns="http://www.w3.org/2000/09/xmldsig#"&gt;</a:t>
            </a:r>
            <a:br/>
            <a:r>
              <a:t>        &lt;X509Data&gt;</a:t>
            </a:r>
            <a:br/>
            <a:r>
              <a:t>          &lt;X509Certificate&gt;MIIC...KEYCLOAK_CERTIFICATE...CD&lt;/X509Certificate&gt;</a:t>
            </a:r>
            <a:br/>
            <a:r>
              <a:t>        &lt;/X509Data&gt;</a:t>
            </a:r>
            <a:br/>
            <a:r>
              <a:t>      &lt;/KeyInfo&gt;</a:t>
            </a:r>
            <a:br/>
            <a:r>
              <a:t>    &lt;/KeyDescriptor&gt;</a:t>
            </a:r>
            <a:br/>
            <a:br/>
            <a:r>
              <a:t>    &lt;SingleSignOnService</a:t>
            </a:r>
            <a:br/>
            <a:r>
              <a:t>      Binding="urn:oasis:names:tc:SAML:2.0:bindings:HTTP-Redirect"</a:t>
            </a:r>
            <a:br/>
            <a:r>
              <a:t>      Location="http://localhost:8081/realms/saml-demo/protocol/saml"/&gt;</a:t>
            </a:r>
            <a:br/>
            <a:r>
              <a:t>  &lt;/IDPSSODescriptor&gt;</a:t>
            </a:r>
            <a:br/>
            <a:r>
              <a:t>&lt;/EntityDescriptor&gt;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18872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28791"/>
                </a:solidFill>
              </a:defRPr>
            </a:pPr>
            <a:r>
              <a:t>What Spring learns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78308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62D38"/>
                </a:solidFill>
              </a:defRPr>
            </a:pPr>
            <a:r>
              <a:t>• Keycloak Entity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496312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62D38"/>
                </a:solidFill>
              </a:defRPr>
            </a:pPr>
            <a:r>
              <a:t>• Whether signed AuthnRequests are wanted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09544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62D38"/>
                </a:solidFill>
              </a:defRPr>
            </a:pPr>
            <a:r>
              <a:t>• Keycloak public signing certificate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922776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62D38"/>
                </a:solidFill>
              </a:defRPr>
            </a:pPr>
            <a:r>
              <a:t>• Keycloak SSO URL and binding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7909560" y="4983480"/>
            <a:ext cx="3200400" cy="411480"/>
          </a:xfrm>
          <a:prstGeom prst="leftArrow">
            <a:avLst/>
          </a:prstGeom>
          <a:solidFill>
            <a:srgbClr val="228791"/>
          </a:solidFill>
          <a:ln>
            <a:solidFill>
              <a:srgbClr val="22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Keycloak metadata → Spring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